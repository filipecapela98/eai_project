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3" r:id="rId3"/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62" r:id="rId6"/>
    <p:sldId id="277" r:id="rId7"/>
    <p:sldId id="258" r:id="rId8"/>
    <p:sldId id="272" r:id="rId9"/>
    <p:sldId id="264" r:id="rId10"/>
    <p:sldId id="278" r:id="rId11"/>
    <p:sldId id="274" r:id="rId12"/>
    <p:sldId id="281" r:id="rId13"/>
    <p:sldId id="273" r:id="rId14"/>
    <p:sldId id="284" r:id="rId15"/>
    <p:sldId id="275" r:id="rId16"/>
    <p:sldId id="285" r:id="rId17"/>
    <p:sldId id="276" r:id="rId18"/>
    <p:sldId id="259" r:id="rId19"/>
    <p:sldId id="261" r:id="rId20"/>
    <p:sldId id="266" r:id="rId21"/>
    <p:sldId id="269" r:id="rId22"/>
    <p:sldId id="268" r:id="rId23"/>
    <p:sldId id="270" r:id="rId24"/>
    <p:sldId id="271" r:id="rId25"/>
    <p:sldId id="265" r:id="rId26"/>
    <p:sldId id="260" r:id="rId27"/>
  </p:sldIdLst>
  <p:sldSz cx="9144000" cy="6858000" type="screen4x3"/>
  <p:notesSz cx="6858000" cy="9144000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Soelman" initials="MS" lastIdx="1" clrIdx="0">
    <p:extLst>
      <p:ext uri="{19B8F6BF-5375-455C-9EA6-DF929625EA0E}">
        <p15:presenceInfo xmlns:p15="http://schemas.microsoft.com/office/powerpoint/2012/main" userId="6be3e278490a360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CC00"/>
    <a:srgbClr val="CC0000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24" autoAdjust="0"/>
    <p:restoredTop sz="94333" autoAdjust="0"/>
  </p:normalViewPr>
  <p:slideViewPr>
    <p:cSldViewPr>
      <p:cViewPr varScale="1">
        <p:scale>
          <a:sx n="109" d="100"/>
          <a:sy n="109" d="100"/>
        </p:scale>
        <p:origin x="163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298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393E5-555B-40FF-B464-1631ED83EBCD}" type="datetimeFigureOut">
              <a:rPr lang="nl-NL" smtClean="0"/>
              <a:t>11-1-2021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EEE58-36EB-4E82-BC48-502F309BFC11}" type="slidenum">
              <a:rPr lang="nl-NL" smtClean="0"/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8852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60D037-C05C-4C36-9649-15AC5A1A930F}" type="slidenum">
              <a:rPr lang="nl-NL"/>
              <a:pPr>
                <a:defRPr/>
              </a:pPr>
              <a:t>‹nº›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38490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>
            <a:extLst>
              <a:ext uri="{FF2B5EF4-FFF2-40B4-BE49-F238E27FC236}">
                <a16:creationId xmlns:a16="http://schemas.microsoft.com/office/drawing/2014/main" id="{2A2A005D-9164-4D73-AEE1-C3180B6D7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938485"/>
          </a:xfrm>
        </p:spPr>
        <p:txBody>
          <a:bodyPr>
            <a:noAutofit/>
          </a:bodyPr>
          <a:lstStyle>
            <a:lvl1pPr algn="ctr">
              <a:defRPr sz="48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sz="4800" b="1">
                <a:latin typeface="Verdana" panose="020B0604030504040204" pitchFamily="34" charset="0"/>
                <a:ea typeface="Verdana" panose="020B0604030504040204" pitchFamily="34" charset="0"/>
              </a:rPr>
              <a:t>Click to edit Master title style</a:t>
            </a:r>
            <a:endParaRPr lang="nl-NL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Subtitle 4">
            <a:extLst>
              <a:ext uri="{FF2B5EF4-FFF2-40B4-BE49-F238E27FC236}">
                <a16:creationId xmlns:a16="http://schemas.microsoft.com/office/drawing/2014/main" id="{B2055615-BF25-49BD-96BB-8FD0A5D05A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2999" y="2047128"/>
            <a:ext cx="6858000" cy="369332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A study of endorsement policies for supply chains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17FF6AD5-7E09-4FB2-B64F-ECAC668590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2656926"/>
            <a:ext cx="6857999" cy="436562"/>
          </a:xfrm>
        </p:spPr>
        <p:txBody>
          <a:bodyPr vert="horz" anchor="t" anchorCtr="1">
            <a:normAutofit/>
          </a:bodyPr>
          <a:lstStyle>
            <a:lvl1pPr algn="ctr">
              <a:defRPr sz="1800" b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2pPr>
          </a:lstStyle>
          <a:p>
            <a:pPr marL="22860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>
                <a:latin typeface="Verdana" panose="020B0604030504040204" pitchFamily="34" charset="0"/>
                <a:ea typeface="Verdana" panose="020B0604030504040204" pitchFamily="34" charset="0"/>
              </a:rPr>
              <a:t>Bachelor Thesis by </a:t>
            </a:r>
            <a:r>
              <a:rPr lang="nl-NL" b="1" dirty="0">
                <a:solidFill>
                  <a:srgbClr val="CC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Mark Soelman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C5E9B74-B334-4DDE-8690-CE62260B62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2341" y="4762587"/>
            <a:ext cx="1947863" cy="538076"/>
          </a:xfrm>
        </p:spPr>
        <p:txBody>
          <a:bodyPr anchor="b" anchorCtr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" charset="0"/>
              </a:rPr>
              <a:t>Supervisors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9818643-DC08-410F-A843-7D017EE072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009" y="4762587"/>
            <a:ext cx="2492990" cy="538076"/>
          </a:xfrm>
        </p:spPr>
        <p:txBody>
          <a:bodyPr anchor="b" anchorCtr="0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External Supervisors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8796BA9A-1DB3-46AE-BBCF-14383585F1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41" y="5301208"/>
            <a:ext cx="3027611" cy="13208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V. Andrikopoulos</a:t>
            </a:r>
          </a:p>
          <a:p>
            <a:pPr lvl="0"/>
            <a:r>
              <a:rPr lang="nl-NL" dirty="0"/>
              <a:t>J. A. Perez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9FBA7B0-D454-4645-AF94-CDDE9E7C69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3638" y="5300663"/>
            <a:ext cx="3027362" cy="1320800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V. Theodosiadis</a:t>
            </a:r>
          </a:p>
          <a:p>
            <a:pPr lvl="0"/>
            <a:r>
              <a:rPr lang="nl-NL" dirty="0"/>
              <a:t>K. Goense</a:t>
            </a:r>
          </a:p>
        </p:txBody>
      </p:sp>
      <p:pic>
        <p:nvPicPr>
          <p:cNvPr id="9" name="Picture 2" descr="Afbeeldingsresultaat voor university of groningen">
            <a:extLst>
              <a:ext uri="{FF2B5EF4-FFF2-40B4-BE49-F238E27FC236}">
                <a16:creationId xmlns:a16="http://schemas.microsoft.com/office/drawing/2014/main" id="{FA8C0866-5E1E-4691-84E8-80475E65A0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169" y="3211738"/>
            <a:ext cx="2621657" cy="86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AE914-2324-489B-A558-D2D790DD79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2998" y="4049742"/>
            <a:ext cx="6858001" cy="4365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nl-NL" dirty="0"/>
              <a:t>In collaboration with IBM</a:t>
            </a:r>
          </a:p>
        </p:txBody>
      </p:sp>
    </p:spTree>
    <p:extLst>
      <p:ext uri="{BB962C8B-B14F-4D97-AF65-F5344CB8AC3E}">
        <p14:creationId xmlns:p14="http://schemas.microsoft.com/office/powerpoint/2010/main" val="39624005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90D3-EADA-4A6D-99C5-12DAD6C5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Ondertitel">
            <a:extLst>
              <a:ext uri="{FF2B5EF4-FFF2-40B4-BE49-F238E27FC236}">
                <a16:creationId xmlns:a16="http://schemas.microsoft.com/office/drawing/2014/main" id="{1015EFD5-A247-44A6-B381-BFD044FD23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" y="4032000"/>
            <a:ext cx="9140825" cy="1908000"/>
          </a:xfrm>
        </p:spPr>
        <p:txBody>
          <a:bodyPr tIns="45720" rIns="267843" bIns="45720">
            <a:normAutofit/>
          </a:bodyPr>
          <a:lstStyle>
            <a:lvl1pPr marL="0" indent="0">
              <a:buFont typeface="Verdana" pitchFamily="34" charset="0"/>
              <a:buNone/>
              <a:defRPr sz="1900"/>
            </a:lvl1pPr>
          </a:lstStyle>
          <a:p>
            <a:pPr lvl="0"/>
            <a:r>
              <a:rPr lang="nl-NL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39443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kstvak"/>
          <p:cNvSpPr>
            <a:spLocks noGrp="1"/>
          </p:cNvSpPr>
          <p:nvPr>
            <p:ph idx="1"/>
          </p:nvPr>
        </p:nvSpPr>
        <p:spPr>
          <a:xfrm>
            <a:off x="2" y="2155666"/>
            <a:ext cx="9140825" cy="4448334"/>
          </a:xfrm>
        </p:spPr>
        <p:txBody>
          <a:bodyPr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5638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etitel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tIns="46990" bIns="46990"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Boventitel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tIns="45720" bIns="45720" anchor="b">
            <a:normAutofit/>
          </a:bodyPr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145114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kstlinks"/>
          <p:cNvSpPr>
            <a:spLocks noGrp="1"/>
          </p:cNvSpPr>
          <p:nvPr>
            <p:ph sz="half" idx="1"/>
          </p:nvPr>
        </p:nvSpPr>
        <p:spPr>
          <a:xfrm>
            <a:off x="2" y="2230438"/>
            <a:ext cx="4494213" cy="4318000"/>
          </a:xfrm>
        </p:spPr>
        <p:txBody>
          <a:bodyPr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Tekstrechts"/>
          <p:cNvSpPr>
            <a:spLocks noGrp="1"/>
          </p:cNvSpPr>
          <p:nvPr>
            <p:ph sz="half" idx="2"/>
          </p:nvPr>
        </p:nvSpPr>
        <p:spPr>
          <a:xfrm>
            <a:off x="4646614" y="2230438"/>
            <a:ext cx="4494212" cy="4318000"/>
          </a:xfrm>
        </p:spPr>
        <p:txBody>
          <a:bodyPr lIns="360000" tIns="45720" bIns="45720">
            <a:normAutofit/>
          </a:bodyPr>
          <a:lstStyle>
            <a:lvl1pPr>
              <a:defRPr sz="2500"/>
            </a:lvl1pPr>
            <a:lvl2pPr>
              <a:defRPr sz="2500"/>
            </a:lvl2pPr>
            <a:lvl3pPr>
              <a:defRPr sz="2500"/>
            </a:lvl3pPr>
            <a:lvl4pPr>
              <a:defRPr sz="2500"/>
            </a:lvl4pPr>
            <a:lvl5pPr>
              <a:defRPr sz="2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7490964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0" y="1284288"/>
            <a:ext cx="9144000" cy="638944"/>
          </a:xfrm>
        </p:spPr>
        <p:txBody>
          <a:bodyPr tIns="46990" bIns="46990">
            <a:no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Koplinks"/>
          <p:cNvSpPr>
            <a:spLocks noGrp="1"/>
          </p:cNvSpPr>
          <p:nvPr>
            <p:ph type="body" idx="1"/>
          </p:nvPr>
        </p:nvSpPr>
        <p:spPr>
          <a:xfrm>
            <a:off x="467544" y="2132856"/>
            <a:ext cx="4040188" cy="639762"/>
          </a:xfrm>
        </p:spPr>
        <p:txBody>
          <a:bodyPr tIns="45720" bIns="45720" anchor="b">
            <a:no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Kleinlinks"/>
          <p:cNvSpPr>
            <a:spLocks noGrp="1"/>
          </p:cNvSpPr>
          <p:nvPr>
            <p:ph sz="half" idx="2"/>
          </p:nvPr>
        </p:nvSpPr>
        <p:spPr>
          <a:xfrm>
            <a:off x="457200" y="2780932"/>
            <a:ext cx="4040188" cy="3744415"/>
          </a:xfrm>
        </p:spPr>
        <p:txBody>
          <a:bodyPr tIns="45720" bIns="4572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Koprechts"/>
          <p:cNvSpPr>
            <a:spLocks noGrp="1"/>
          </p:cNvSpPr>
          <p:nvPr>
            <p:ph type="body" sz="quarter" idx="3"/>
          </p:nvPr>
        </p:nvSpPr>
        <p:spPr>
          <a:xfrm>
            <a:off x="4645027" y="2132860"/>
            <a:ext cx="4041775" cy="648071"/>
          </a:xfrm>
        </p:spPr>
        <p:txBody>
          <a:bodyPr tIns="45720" bIns="45720" anchor="b">
            <a:noAutofit/>
          </a:bodyPr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Kleinrechts"/>
          <p:cNvSpPr>
            <a:spLocks noGrp="1"/>
          </p:cNvSpPr>
          <p:nvPr>
            <p:ph sz="quarter" idx="4"/>
          </p:nvPr>
        </p:nvSpPr>
        <p:spPr>
          <a:xfrm>
            <a:off x="4645027" y="2780932"/>
            <a:ext cx="4041775" cy="3744415"/>
          </a:xfrm>
        </p:spPr>
        <p:txBody>
          <a:bodyPr tIns="45720" bIns="4572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3031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vak"/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tIns="46990" bIns="46990">
            <a:norm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050694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85136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links"/>
          <p:cNvSpPr>
            <a:spLocks noGrp="1"/>
          </p:cNvSpPr>
          <p:nvPr>
            <p:ph type="title"/>
          </p:nvPr>
        </p:nvSpPr>
        <p:spPr>
          <a:xfrm>
            <a:off x="251521" y="1340768"/>
            <a:ext cx="3213993" cy="864096"/>
          </a:xfrm>
        </p:spPr>
        <p:txBody>
          <a:bodyPr tIns="45720" bIns="45720" anchor="b">
            <a:noAutofit/>
          </a:bodyPr>
          <a:lstStyle>
            <a:lvl1pPr algn="l">
              <a:defRPr sz="2400" b="1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Rechtsgroot"/>
          <p:cNvSpPr>
            <a:spLocks noGrp="1"/>
          </p:cNvSpPr>
          <p:nvPr>
            <p:ph idx="1"/>
          </p:nvPr>
        </p:nvSpPr>
        <p:spPr>
          <a:xfrm>
            <a:off x="3575050" y="1340768"/>
            <a:ext cx="5111750" cy="5184576"/>
          </a:xfrm>
        </p:spPr>
        <p:txBody>
          <a:bodyPr tIns="45720" bIns="45720">
            <a:normAutofit/>
          </a:bodyPr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kstlinks"/>
          <p:cNvSpPr>
            <a:spLocks noGrp="1"/>
          </p:cNvSpPr>
          <p:nvPr>
            <p:ph type="body" sz="half" idx="2"/>
          </p:nvPr>
        </p:nvSpPr>
        <p:spPr>
          <a:xfrm>
            <a:off x="251521" y="2204864"/>
            <a:ext cx="3213993" cy="4320480"/>
          </a:xfrm>
        </p:spPr>
        <p:txBody>
          <a:bodyPr tIns="45720" bIns="45720">
            <a:normAutofit/>
          </a:bodyPr>
          <a:lstStyle>
            <a:lvl1pPr marL="0" indent="0">
              <a:buNone/>
              <a:defRPr sz="28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2546082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derschriftkop"/>
          <p:cNvSpPr>
            <a:spLocks noGrp="1"/>
          </p:cNvSpPr>
          <p:nvPr>
            <p:ph type="title"/>
          </p:nvPr>
        </p:nvSpPr>
        <p:spPr>
          <a:xfrm>
            <a:off x="1792288" y="5085184"/>
            <a:ext cx="5486400" cy="648072"/>
          </a:xfrm>
        </p:spPr>
        <p:txBody>
          <a:bodyPr tIns="46990" bIns="46990" anchor="b">
            <a:normAutofit/>
          </a:bodyPr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Figuur"/>
          <p:cNvSpPr>
            <a:spLocks noGrp="1" noChangeAspect="1"/>
          </p:cNvSpPr>
          <p:nvPr>
            <p:ph type="pic" idx="1"/>
          </p:nvPr>
        </p:nvSpPr>
        <p:spPr>
          <a:xfrm>
            <a:off x="1791970" y="1484787"/>
            <a:ext cx="5486400" cy="3600401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Onderschrift"/>
          <p:cNvSpPr>
            <a:spLocks noGrp="1"/>
          </p:cNvSpPr>
          <p:nvPr>
            <p:ph type="body" sz="half" idx="2"/>
          </p:nvPr>
        </p:nvSpPr>
        <p:spPr>
          <a:xfrm>
            <a:off x="1792288" y="5733256"/>
            <a:ext cx="5486400" cy="792088"/>
          </a:xfrm>
        </p:spPr>
        <p:txBody>
          <a:bodyPr tIns="45720" bIns="45720">
            <a:normAutofit/>
          </a:bodyPr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245012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6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AF360-BBD3-428C-A90E-F6F8CDFA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D038C-5FA5-49C9-A290-1A658C415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1EFD7-CBC1-41BA-AC33-52B7AD708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1E57-5ACB-4F40-9279-AEA215103DFE}" type="datetimeFigureOut">
              <a:rPr lang="nl-NL" smtClean="0"/>
              <a:t>11-1-2021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06AC-46B0-4A2C-8B6F-F5DEC5318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AC1F9-8ABC-466E-81BA-5D6D86C09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1C0FC-820A-477E-979D-00922CBC69BA}" type="slidenum">
              <a:rPr lang="nl-NL" smtClean="0"/>
              <a:t>‹nº›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4F16B-7533-4F58-AB98-39B13CBEDC9A}"/>
              </a:ext>
            </a:extLst>
          </p:cNvPr>
          <p:cNvSpPr/>
          <p:nvPr userDrawn="1"/>
        </p:nvSpPr>
        <p:spPr>
          <a:xfrm rot="-3060000">
            <a:off x="-949715" y="700230"/>
            <a:ext cx="3395359" cy="720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844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77FBBED8-DC82-4CBA-A1C9-A856527EA81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313" y="188483"/>
            <a:ext cx="2880320" cy="675291"/>
          </a:xfrm>
          <a:prstGeom prst="rect">
            <a:avLst/>
          </a:prstGeom>
        </p:spPr>
      </p:pic>
      <p:sp>
        <p:nvSpPr>
          <p:cNvPr id="1030" name="shape_Transparantie"/>
          <p:cNvSpPr>
            <a:spLocks noChangeArrowheads="1"/>
          </p:cNvSpPr>
          <p:nvPr/>
        </p:nvSpPr>
        <p:spPr bwMode="auto">
          <a:xfrm>
            <a:off x="127000" y="0"/>
            <a:ext cx="254000" cy="101758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757575">
                  <a:alpha val="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/>
          </a:p>
        </p:txBody>
      </p:sp>
      <p:sp>
        <p:nvSpPr>
          <p:cNvPr id="1031" name="shape_TransFollower"/>
          <p:cNvSpPr>
            <a:spLocks noChangeArrowheads="1"/>
          </p:cNvSpPr>
          <p:nvPr/>
        </p:nvSpPr>
        <p:spPr bwMode="auto">
          <a:xfrm>
            <a:off x="0" y="0"/>
            <a:ext cx="127000" cy="1017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/>
          </a:p>
        </p:txBody>
      </p:sp>
      <p:sp>
        <p:nvSpPr>
          <p:cNvPr id="1026" name="Tekstvak"/>
          <p:cNvSpPr>
            <a:spLocks noGrp="1" noChangeArrowheads="1"/>
          </p:cNvSpPr>
          <p:nvPr>
            <p:ph type="body" idx="1"/>
          </p:nvPr>
        </p:nvSpPr>
        <p:spPr bwMode="auto">
          <a:xfrm>
            <a:off x="2" y="2155666"/>
            <a:ext cx="9140825" cy="4448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nl-NL" altLang="nl-NL" dirty="0"/>
              <a:t>Click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edit</a:t>
            </a:r>
            <a:r>
              <a:rPr lang="nl-NL" altLang="nl-NL" dirty="0"/>
              <a:t> Master </a:t>
            </a:r>
            <a:r>
              <a:rPr lang="nl-NL" altLang="nl-NL" dirty="0" err="1"/>
              <a:t>text</a:t>
            </a:r>
            <a:r>
              <a:rPr lang="nl-NL" altLang="nl-NL" dirty="0"/>
              <a:t> </a:t>
            </a:r>
            <a:r>
              <a:rPr lang="nl-NL" altLang="nl-NL" dirty="0" err="1"/>
              <a:t>styles</a:t>
            </a:r>
            <a:endParaRPr lang="nl-NL" altLang="nl-NL" dirty="0"/>
          </a:p>
          <a:p>
            <a:pPr lvl="1"/>
            <a:r>
              <a:rPr lang="nl-NL" altLang="nl-NL" dirty="0"/>
              <a:t>Second level</a:t>
            </a:r>
          </a:p>
          <a:p>
            <a:pPr lvl="2"/>
            <a:r>
              <a:rPr lang="nl-NL" altLang="nl-NL" dirty="0" err="1"/>
              <a:t>Third</a:t>
            </a:r>
            <a:r>
              <a:rPr lang="nl-NL" altLang="nl-NL" dirty="0"/>
              <a:t> level</a:t>
            </a:r>
          </a:p>
          <a:p>
            <a:pPr lvl="3"/>
            <a:r>
              <a:rPr lang="nl-NL" altLang="nl-NL" dirty="0" err="1"/>
              <a:t>Fourth</a:t>
            </a:r>
            <a:r>
              <a:rPr lang="nl-NL" altLang="nl-NL" dirty="0"/>
              <a:t> level</a:t>
            </a:r>
          </a:p>
          <a:p>
            <a:pPr lvl="4"/>
            <a:r>
              <a:rPr lang="nl-NL" altLang="nl-NL" dirty="0" err="1"/>
              <a:t>Fifth</a:t>
            </a:r>
            <a:r>
              <a:rPr lang="nl-NL" altLang="nl-NL" dirty="0"/>
              <a:t> level</a:t>
            </a:r>
          </a:p>
        </p:txBody>
      </p:sp>
      <p:sp>
        <p:nvSpPr>
          <p:cNvPr id="1028" name="Titelvak"/>
          <p:cNvSpPr>
            <a:spLocks noGrp="1" noChangeArrowheads="1"/>
          </p:cNvSpPr>
          <p:nvPr>
            <p:ph type="title"/>
          </p:nvPr>
        </p:nvSpPr>
        <p:spPr bwMode="auto">
          <a:xfrm>
            <a:off x="0" y="1284288"/>
            <a:ext cx="9140825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nl-NL" altLang="nl-NL" dirty="0"/>
              <a:t>Click </a:t>
            </a:r>
            <a:r>
              <a:rPr lang="nl-NL" altLang="nl-NL" dirty="0" err="1"/>
              <a:t>to</a:t>
            </a:r>
            <a:r>
              <a:rPr lang="nl-NL" altLang="nl-NL" dirty="0"/>
              <a:t> </a:t>
            </a:r>
            <a:r>
              <a:rPr lang="nl-NL" altLang="nl-NL" dirty="0" err="1"/>
              <a:t>edit</a:t>
            </a:r>
            <a:r>
              <a:rPr lang="nl-NL" altLang="nl-NL" dirty="0"/>
              <a:t> Master </a:t>
            </a:r>
            <a:r>
              <a:rPr lang="nl-NL" altLang="nl-NL" dirty="0" err="1"/>
              <a:t>title</a:t>
            </a:r>
            <a:r>
              <a:rPr lang="nl-NL" altLang="nl-NL" dirty="0"/>
              <a:t> </a:t>
            </a:r>
            <a:r>
              <a:rPr lang="nl-NL" altLang="nl-NL" dirty="0" err="1"/>
              <a:t>style</a:t>
            </a:r>
            <a:endParaRPr lang="nl-NL" altLang="nl-NL" dirty="0"/>
          </a:p>
        </p:txBody>
      </p:sp>
      <p:sp>
        <p:nvSpPr>
          <p:cNvPr id="1027" name="RodeBalk"/>
          <p:cNvSpPr>
            <a:spLocks noChangeArrowheads="1"/>
          </p:cNvSpPr>
          <p:nvPr/>
        </p:nvSpPr>
        <p:spPr bwMode="auto">
          <a:xfrm>
            <a:off x="-1" y="1017588"/>
            <a:ext cx="9144000" cy="2667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45720" bIns="45720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nl-NL" sz="1800" dirty="0">
              <a:solidFill>
                <a:srgbClr val="FFFFFF"/>
              </a:solidFill>
            </a:endParaRPr>
          </a:p>
        </p:txBody>
      </p:sp>
      <p:pic>
        <p:nvPicPr>
          <p:cNvPr id="1033" name="LogoSlash_01" descr="SLASHTRANS" hidden="1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842" y="392117"/>
            <a:ext cx="41402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LogoSlash_02" descr="SLASHTRANS" hidden="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39" y="392117"/>
            <a:ext cx="41656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chuineBalk" hidden="1"/>
          <p:cNvSpPr/>
          <p:nvPr userDrawn="1"/>
        </p:nvSpPr>
        <p:spPr>
          <a:xfrm>
            <a:off x="7974000" y="394244"/>
            <a:ext cx="1170000" cy="97028"/>
          </a:xfrm>
          <a:custGeom>
            <a:avLst/>
            <a:gdLst>
              <a:gd name="connsiteX0" fmla="*/ 0 w 1170000"/>
              <a:gd name="connsiteY0" fmla="*/ 0 h 96197"/>
              <a:gd name="connsiteX1" fmla="*/ 1170000 w 1170000"/>
              <a:gd name="connsiteY1" fmla="*/ 0 h 96197"/>
              <a:gd name="connsiteX2" fmla="*/ 1170000 w 1170000"/>
              <a:gd name="connsiteY2" fmla="*/ 96197 h 96197"/>
              <a:gd name="connsiteX3" fmla="*/ 0 w 1170000"/>
              <a:gd name="connsiteY3" fmla="*/ 96197 h 96197"/>
              <a:gd name="connsiteX4" fmla="*/ 0 w 1170000"/>
              <a:gd name="connsiteY4" fmla="*/ 0 h 96197"/>
              <a:gd name="connsiteX0" fmla="*/ 76200 w 1170000"/>
              <a:gd name="connsiteY0" fmla="*/ 2382 h 96197"/>
              <a:gd name="connsiteX1" fmla="*/ 1170000 w 1170000"/>
              <a:gd name="connsiteY1" fmla="*/ 0 h 96197"/>
              <a:gd name="connsiteX2" fmla="*/ 1170000 w 1170000"/>
              <a:gd name="connsiteY2" fmla="*/ 96197 h 96197"/>
              <a:gd name="connsiteX3" fmla="*/ 0 w 1170000"/>
              <a:gd name="connsiteY3" fmla="*/ 96197 h 96197"/>
              <a:gd name="connsiteX4" fmla="*/ 76200 w 1170000"/>
              <a:gd name="connsiteY4" fmla="*/ 2382 h 96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0000" h="96197">
                <a:moveTo>
                  <a:pt x="76200" y="2382"/>
                </a:moveTo>
                <a:lnTo>
                  <a:pt x="1170000" y="0"/>
                </a:lnTo>
                <a:lnTo>
                  <a:pt x="1170000" y="96197"/>
                </a:lnTo>
                <a:lnTo>
                  <a:pt x="0" y="96197"/>
                </a:lnTo>
                <a:lnTo>
                  <a:pt x="76200" y="23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" bIns="45720" rtlCol="0" anchor="ctr"/>
          <a:lstStyle/>
          <a:p>
            <a:pPr algn="ctr"/>
            <a:endParaRPr lang="nl-NL" sz="1800" dirty="0"/>
          </a:p>
        </p:txBody>
      </p:sp>
      <p:sp>
        <p:nvSpPr>
          <p:cNvPr id="3" name="Paginanummer"/>
          <p:cNvSpPr/>
          <p:nvPr userDrawn="1"/>
        </p:nvSpPr>
        <p:spPr>
          <a:xfrm>
            <a:off x="8255002" y="1070932"/>
            <a:ext cx="254000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algn="r"/>
            <a:fld id="{825C7DD7-04B3-467D-9524-52591AE6A38C}" type="slidenum">
              <a:rPr lang="nl-NL" sz="900" smtClean="0">
                <a:solidFill>
                  <a:srgbClr val="FFFFFF"/>
                </a:solidFill>
              </a:rPr>
              <a:pPr algn="r"/>
              <a:t>‹nº›</a:t>
            </a:fld>
            <a:endParaRPr lang="nl-NL" sz="900" dirty="0">
              <a:solidFill>
                <a:srgbClr val="FFFFFF"/>
              </a:solidFill>
            </a:endParaRPr>
          </a:p>
        </p:txBody>
      </p:sp>
      <p:sp>
        <p:nvSpPr>
          <p:cNvPr id="1037" name="Scheiding"/>
          <p:cNvSpPr txBox="1">
            <a:spLocks noChangeArrowheads="1"/>
          </p:cNvSpPr>
          <p:nvPr/>
        </p:nvSpPr>
        <p:spPr bwMode="auto">
          <a:xfrm>
            <a:off x="8204202" y="1070932"/>
            <a:ext cx="5290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t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nl-NL" sz="900" dirty="0">
                <a:solidFill>
                  <a:srgbClr val="FFFFFF"/>
                </a:solidFill>
                <a:latin typeface="Verdana" pitchFamily="34" charset="0"/>
              </a:rPr>
              <a:t>|</a:t>
            </a:r>
          </a:p>
        </p:txBody>
      </p:sp>
      <p:sp>
        <p:nvSpPr>
          <p:cNvPr id="1034" name="tb_Faculty"/>
          <p:cNvSpPr txBox="1">
            <a:spLocks noChangeArrowheads="1"/>
          </p:cNvSpPr>
          <p:nvPr/>
        </p:nvSpPr>
        <p:spPr bwMode="auto">
          <a:xfrm>
            <a:off x="3687765" y="339725"/>
            <a:ext cx="6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206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6429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9636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285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30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200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657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114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endParaRPr lang="nl-NL" sz="1000" dirty="0">
              <a:solidFill>
                <a:srgbClr val="CC0000"/>
              </a:solidFill>
              <a:latin typeface="Georgia" pitchFamily="18" charset="0"/>
            </a:endParaRPr>
          </a:p>
        </p:txBody>
      </p:sp>
      <p:sp>
        <p:nvSpPr>
          <p:cNvPr id="1032" name="tbDate"/>
          <p:cNvSpPr txBox="1">
            <a:spLocks noChangeArrowheads="1"/>
          </p:cNvSpPr>
          <p:nvPr/>
        </p:nvSpPr>
        <p:spPr bwMode="auto">
          <a:xfrm>
            <a:off x="7378700" y="1070932"/>
            <a:ext cx="762000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t">
            <a:no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206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642938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963613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285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17430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200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657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114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0A13F6E1-E3A4-4B88-A4AB-204F80EE3C5F}" type="datetime2">
              <a:rPr lang="en-US" sz="900" smtClean="0">
                <a:solidFill>
                  <a:srgbClr val="FFFFFF"/>
                </a:solidFill>
                <a:latin typeface="Verdana" pitchFamily="34" charset="0"/>
              </a:rPr>
              <a:t>Monday, January 11, 2021</a:t>
            </a:fld>
            <a:endParaRPr lang="nl-NL" sz="9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55C05-0484-4782-8297-80872694A302}"/>
              </a:ext>
            </a:extLst>
          </p:cNvPr>
          <p:cNvSpPr/>
          <p:nvPr userDrawn="1"/>
        </p:nvSpPr>
        <p:spPr>
          <a:xfrm>
            <a:off x="488626" y="1037928"/>
            <a:ext cx="25250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 pitchFamily="34" charset="0"/>
              </a:rPr>
              <a:t>Final presentation of our group’s project</a:t>
            </a:r>
            <a:endParaRPr lang="nl-NL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427A16-D383-4140-A90C-A71CB5CAA6E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020963" y="275160"/>
            <a:ext cx="542925" cy="6191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D871CC9-CA35-43D1-A4C7-0A9D1AB444A1}"/>
              </a:ext>
            </a:extLst>
          </p:cNvPr>
          <p:cNvSpPr txBox="1"/>
          <p:nvPr userDrawn="1"/>
        </p:nvSpPr>
        <p:spPr>
          <a:xfrm>
            <a:off x="3573419" y="317340"/>
            <a:ext cx="4804843" cy="529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nl-NL" sz="1750" b="1" dirty="0" err="1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viral</a:t>
            </a:r>
            <a:r>
              <a:rPr lang="nl-NL" sz="1750" b="1" dirty="0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 image</a:t>
            </a:r>
          </a:p>
          <a:p>
            <a:pPr algn="l">
              <a:lnSpc>
                <a:spcPct val="80000"/>
              </a:lnSpc>
            </a:pPr>
            <a:r>
              <a:rPr lang="nl-NL" sz="1750" b="1" dirty="0">
                <a:solidFill>
                  <a:srgbClr val="CC0000"/>
                </a:solidFill>
                <a:latin typeface="Egyptienne F LT Std" panose="02040603040506030204" pitchFamily="18" charset="0"/>
                <a:cs typeface="Arial" panose="020B0604020202020204" pitchFamily="34" charset="0"/>
              </a:rPr>
              <a:t>analysis</a:t>
            </a:r>
            <a:endParaRPr lang="nl-NL" sz="1750" b="1" dirty="0">
              <a:solidFill>
                <a:srgbClr val="CC0000"/>
              </a:solidFill>
              <a:latin typeface="Egyptienne F LT Std" panose="020406030405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uiExpand="1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28" grpId="0"/>
    </p:bldLst>
  </p:timing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Verdana" pitchFamily="34" charset="0"/>
          <a:cs typeface="Arial" charset="0"/>
        </a:defRPr>
      </a:lvl9pPr>
    </p:titleStyle>
    <p:bodyStyle>
      <a:lvl1pPr marL="249232" indent="-249232" algn="l" rtl="0" eaLnBrk="0" fontAlgn="base" hangingPunct="0">
        <a:spcBef>
          <a:spcPct val="20000"/>
        </a:spcBef>
        <a:spcAft>
          <a:spcPct val="0"/>
        </a:spcAft>
        <a:buFont typeface="Verdana" pitchFamily="34" charset="0"/>
        <a:buChar char="›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501638" indent="-250819" algn="l" rtl="0" eaLnBrk="0" fontAlgn="base" hangingPunct="0">
        <a:spcBef>
          <a:spcPct val="20000"/>
        </a:spcBef>
        <a:spcAft>
          <a:spcPct val="0"/>
        </a:spcAft>
        <a:buSzPct val="50000"/>
        <a:buFont typeface="Wingdings" pitchFamily="2" charset="2"/>
        <a:buChar char="§"/>
        <a:defRPr sz="2500">
          <a:solidFill>
            <a:schemeClr val="tx1"/>
          </a:solidFill>
          <a:latin typeface="+mn-lt"/>
          <a:cs typeface="+mn-cs"/>
        </a:defRPr>
      </a:lvl2pPr>
      <a:lvl3pPr marL="744520" indent="-242882" algn="l" rtl="0" eaLnBrk="0" fontAlgn="base" hangingPunct="0">
        <a:spcBef>
          <a:spcPct val="20000"/>
        </a:spcBef>
        <a:spcAft>
          <a:spcPct val="0"/>
        </a:spcAft>
        <a:buSzPct val="85000"/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3pPr>
      <a:lvl4pPr marL="1009625" indent="-263519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4pPr>
      <a:lvl5pPr marL="1260443" indent="-249232" algn="l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5pPr>
      <a:lvl6pPr marL="1717632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6pPr>
      <a:lvl7pPr marL="2174820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7pPr>
      <a:lvl8pPr marL="2632009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8pPr>
      <a:lvl9pPr marL="3089197" indent="-249232" algn="l" rtl="0" fontAlgn="base">
        <a:spcBef>
          <a:spcPct val="20000"/>
        </a:spcBef>
        <a:spcAft>
          <a:spcPct val="0"/>
        </a:spcAft>
        <a:buFont typeface="Courier New" pitchFamily="49" charset="0"/>
        <a:buChar char="-"/>
        <a:defRPr sz="2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nl-N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2D0F45-8DD4-496C-9AA1-6C9BBF7A5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Viral</a:t>
            </a:r>
            <a:r>
              <a:rPr lang="nl-NL" dirty="0"/>
              <a:t> Images!</a:t>
            </a:r>
            <a:endParaRPr lang="en-US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C3E01E6-0C1F-4193-BCB5-204C94845D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System of </a:t>
            </a:r>
            <a:r>
              <a:rPr lang="nl-NL" dirty="0" err="1"/>
              <a:t>Integrations</a:t>
            </a:r>
            <a:endParaRPr lang="en-US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A29A795-97E9-469B-85E8-2F78FF0487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Authors</a:t>
            </a:r>
            <a:endParaRPr lang="en-US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8556C02-B2C8-4FC4-9D1D-B179FA31A7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 err="1"/>
              <a:t>Swastik</a:t>
            </a:r>
            <a:r>
              <a:rPr lang="nl-NL" dirty="0"/>
              <a:t> </a:t>
            </a:r>
            <a:r>
              <a:rPr lang="nl-NL" dirty="0" err="1"/>
              <a:t>Nayak</a:t>
            </a:r>
            <a:endParaRPr lang="nl-NL" dirty="0"/>
          </a:p>
          <a:p>
            <a:r>
              <a:rPr lang="nl-NL" dirty="0" err="1"/>
              <a:t>Anil</a:t>
            </a:r>
            <a:r>
              <a:rPr lang="nl-NL" dirty="0"/>
              <a:t> </a:t>
            </a:r>
            <a:r>
              <a:rPr lang="nl-NL" dirty="0" err="1"/>
              <a:t>Mathew</a:t>
            </a:r>
            <a:endParaRPr lang="en-US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9197E6C-D372-4822-990A-ED7F28935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Filipe</a:t>
            </a:r>
            <a:r>
              <a:rPr lang="nl-NL" dirty="0"/>
              <a:t> </a:t>
            </a:r>
            <a:r>
              <a:rPr lang="nl-NL" dirty="0" err="1"/>
              <a:t>Capela</a:t>
            </a:r>
            <a:endParaRPr lang="nl-NL" dirty="0"/>
          </a:p>
          <a:p>
            <a:r>
              <a:rPr lang="nl-NL" dirty="0"/>
              <a:t>Mark Soelman</a:t>
            </a:r>
            <a:endParaRPr lang="en-US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B9C3926A-EE57-4B7C-9133-7842BA219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course of Enterprise Application Integration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F6F833B-6467-49A4-AA17-8DFFDC934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005" y="4405354"/>
            <a:ext cx="2309758" cy="2227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0785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7B80-BF46-4ECC-A3E2-EDB99590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Table of 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97106-188D-4A03-A832-D72B9A5A5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" y="2420888"/>
            <a:ext cx="9140825" cy="403244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System Context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Integrated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Tiered Architecture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Design Decisions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Architectural Diagrams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Demo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0C41F9-84DB-4977-AAC2-2992D863C4FE}"/>
              </a:ext>
            </a:extLst>
          </p:cNvPr>
          <p:cNvCxnSpPr>
            <a:cxnSpLocks/>
          </p:cNvCxnSpPr>
          <p:nvPr/>
        </p:nvCxnSpPr>
        <p:spPr>
          <a:xfrm>
            <a:off x="1043608" y="4005064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A101B-9714-44CD-BCE1-DD69E9716B21}"/>
              </a:ext>
            </a:extLst>
          </p:cNvPr>
          <p:cNvCxnSpPr>
            <a:cxnSpLocks/>
          </p:cNvCxnSpPr>
          <p:nvPr/>
        </p:nvCxnSpPr>
        <p:spPr>
          <a:xfrm>
            <a:off x="1043608" y="4869160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3CA626-B457-4A0C-B712-5E297F34A6FE}"/>
              </a:ext>
            </a:extLst>
          </p:cNvPr>
          <p:cNvCxnSpPr>
            <a:cxnSpLocks/>
          </p:cNvCxnSpPr>
          <p:nvPr/>
        </p:nvCxnSpPr>
        <p:spPr>
          <a:xfrm>
            <a:off x="1043608" y="5805264"/>
            <a:ext cx="16561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68480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System </a:t>
            </a:r>
            <a:r>
              <a:rPr lang="en-US" b="1" dirty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Context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84FFA-0E8A-4D16-8BE1-2D6913DF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1" y="2024844"/>
            <a:ext cx="2036522" cy="1821613"/>
          </a:xfrm>
          <a:prstGeom prst="rect">
            <a:avLst/>
          </a:prstGeom>
          <a:ln w="28575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ECD2B8-CAD7-4CEC-B886-3B5EBF2F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204864"/>
            <a:ext cx="1728192" cy="1261646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E2E40D-41CF-4C25-BCD1-3A3DA5701CD2}"/>
              </a:ext>
            </a:extLst>
          </p:cNvPr>
          <p:cNvSpPr txBox="1"/>
          <p:nvPr/>
        </p:nvSpPr>
        <p:spPr>
          <a:xfrm>
            <a:off x="2638451" y="3852898"/>
            <a:ext cx="303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2. </a:t>
            </a:r>
            <a:r>
              <a:rPr lang="nl-NL" dirty="0">
                <a:latin typeface="+mj-lt"/>
              </a:rPr>
              <a:t>Internet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posts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nl-NL" dirty="0">
                <a:latin typeface="+mj-lt"/>
              </a:rPr>
              <a:t>image</a:t>
            </a:r>
            <a:endParaRPr lang="en-US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81BDFC-84B8-44FC-935F-B0520751FB93}"/>
              </a:ext>
            </a:extLst>
          </p:cNvPr>
          <p:cNvSpPr txBox="1"/>
          <p:nvPr/>
        </p:nvSpPr>
        <p:spPr>
          <a:xfrm>
            <a:off x="179512" y="3477125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C00000"/>
                </a:solidFill>
                <a:latin typeface="+mj-lt"/>
              </a:rPr>
              <a:t>1. </a:t>
            </a:r>
            <a:r>
              <a:rPr lang="nl-NL" dirty="0">
                <a:latin typeface="+mj-lt"/>
              </a:rPr>
              <a:t>Monitor 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#cats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BBC7AE6-1050-4821-8F32-1B26337D218F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2051720" y="2835687"/>
            <a:ext cx="1080121" cy="99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Google Vision Api">
            <a:extLst>
              <a:ext uri="{FF2B5EF4-FFF2-40B4-BE49-F238E27FC236}">
                <a16:creationId xmlns:a16="http://schemas.microsoft.com/office/drawing/2014/main" id="{C7056C84-A7BD-45B4-83DD-B2D9B0C432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5" t="16490" r="13499" b="15425"/>
          <a:stretch/>
        </p:blipFill>
        <p:spPr bwMode="auto">
          <a:xfrm>
            <a:off x="6045793" y="2141000"/>
            <a:ext cx="2664296" cy="1389374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2DBE74C-4A62-4D4B-A27A-3ED5DA085F9B}"/>
              </a:ext>
            </a:extLst>
          </p:cNvPr>
          <p:cNvCxnSpPr>
            <a:cxnSpLocks/>
            <a:stCxn id="7" idx="3"/>
            <a:endCxn id="1026" idx="1"/>
          </p:cNvCxnSpPr>
          <p:nvPr/>
        </p:nvCxnSpPr>
        <p:spPr>
          <a:xfrm flipV="1">
            <a:off x="5168363" y="2835687"/>
            <a:ext cx="877430" cy="999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108CBF-A859-42B2-B792-3D4A989C1317}"/>
              </a:ext>
            </a:extLst>
          </p:cNvPr>
          <p:cNvSpPr txBox="1"/>
          <p:nvPr/>
        </p:nvSpPr>
        <p:spPr>
          <a:xfrm>
            <a:off x="6230769" y="3568623"/>
            <a:ext cx="229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3.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Annotating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28" name="Picture 4" descr="Migrating from mlab to MongoDB Atlas | by ashok naik | Medium">
            <a:extLst>
              <a:ext uri="{FF2B5EF4-FFF2-40B4-BE49-F238E27FC236}">
                <a16:creationId xmlns:a16="http://schemas.microsoft.com/office/drawing/2014/main" id="{C6AFAC32-110A-4508-9E0D-80C6C896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823" y="5295207"/>
            <a:ext cx="1800200" cy="1014113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FD6200-ECEB-4EA1-A65E-E2F583D9F3DC}"/>
              </a:ext>
            </a:extLst>
          </p:cNvPr>
          <p:cNvSpPr txBox="1"/>
          <p:nvPr/>
        </p:nvSpPr>
        <p:spPr>
          <a:xfrm>
            <a:off x="7164288" y="6309320"/>
            <a:ext cx="2294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4. </a:t>
            </a:r>
            <a:r>
              <a:rPr lang="nl-NL" b="1" dirty="0" err="1">
                <a:solidFill>
                  <a:srgbClr val="C00000"/>
                </a:solidFill>
                <a:latin typeface="+mj-lt"/>
              </a:rPr>
              <a:t>Logging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F0642B-4867-41CF-91AE-C973966C4977}"/>
              </a:ext>
            </a:extLst>
          </p:cNvPr>
          <p:cNvCxnSpPr>
            <a:cxnSpLocks/>
          </p:cNvCxnSpPr>
          <p:nvPr/>
        </p:nvCxnSpPr>
        <p:spPr>
          <a:xfrm>
            <a:off x="6263681" y="3530374"/>
            <a:ext cx="1034142" cy="17648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B06EA1BA-7975-49CB-9072-5460BF39A11C}"/>
              </a:ext>
            </a:extLst>
          </p:cNvPr>
          <p:cNvCxnSpPr>
            <a:cxnSpLocks/>
            <a:endCxn id="1025" idx="3"/>
          </p:cNvCxnSpPr>
          <p:nvPr/>
        </p:nvCxnSpPr>
        <p:spPr>
          <a:xfrm rot="5400000">
            <a:off x="4515462" y="3842840"/>
            <a:ext cx="2022436" cy="1474003"/>
          </a:xfrm>
          <a:prstGeom prst="curved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7E114DC0-D620-4547-8D9F-A3DA2A3A6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2" y="4401001"/>
            <a:ext cx="4716016" cy="2380115"/>
          </a:xfrm>
          <a:prstGeom prst="rect">
            <a:avLst/>
          </a:prstGeom>
          <a:ln w="38100">
            <a:solidFill>
              <a:srgbClr val="C0000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6E7B423-EB35-455C-A5F7-9CF2799D3F26}"/>
              </a:ext>
            </a:extLst>
          </p:cNvPr>
          <p:cNvSpPr txBox="1"/>
          <p:nvPr/>
        </p:nvSpPr>
        <p:spPr>
          <a:xfrm>
            <a:off x="-336309" y="4043458"/>
            <a:ext cx="2964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b="1" dirty="0">
                <a:solidFill>
                  <a:srgbClr val="C00000"/>
                </a:solidFill>
                <a:latin typeface="+mj-lt"/>
              </a:rPr>
              <a:t>5. </a:t>
            </a:r>
            <a:r>
              <a:rPr lang="nl-NL" dirty="0">
                <a:latin typeface="+mj-lt"/>
              </a:rPr>
              <a:t>Frontend</a:t>
            </a:r>
            <a:r>
              <a:rPr lang="nl-NL" b="1" dirty="0">
                <a:solidFill>
                  <a:srgbClr val="C00000"/>
                </a:solidFill>
                <a:latin typeface="+mj-lt"/>
              </a:rPr>
              <a:t>!</a:t>
            </a:r>
            <a:endParaRPr lang="en-US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1033" name="Picture 6" descr="Loop Round Circle Up Svg Png Icon Free Download (#439449) -  OnlineWebFonts.COM">
            <a:extLst>
              <a:ext uri="{FF2B5EF4-FFF2-40B4-BE49-F238E27FC236}">
                <a16:creationId xmlns:a16="http://schemas.microsoft.com/office/drawing/2014/main" id="{BDBC532F-F817-42EF-97F3-82B919BD2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010446">
            <a:off x="1934788" y="1981406"/>
            <a:ext cx="545503" cy="45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8" descr="How we found coronavirus in a cat">
            <a:extLst>
              <a:ext uri="{FF2B5EF4-FFF2-40B4-BE49-F238E27FC236}">
                <a16:creationId xmlns:a16="http://schemas.microsoft.com/office/drawing/2014/main" id="{EF3B1F63-F9C2-4264-A2C3-0983A0891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35" y="4694253"/>
            <a:ext cx="2190278" cy="123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Rectangle 1037">
            <a:extLst>
              <a:ext uri="{FF2B5EF4-FFF2-40B4-BE49-F238E27FC236}">
                <a16:creationId xmlns:a16="http://schemas.microsoft.com/office/drawing/2014/main" id="{91B03D76-7AD8-48B5-968A-CD3E26B6CE29}"/>
              </a:ext>
            </a:extLst>
          </p:cNvPr>
          <p:cNvSpPr/>
          <p:nvPr/>
        </p:nvSpPr>
        <p:spPr>
          <a:xfrm>
            <a:off x="2699792" y="4718501"/>
            <a:ext cx="1152128" cy="1086763"/>
          </a:xfrm>
          <a:prstGeom prst="rect">
            <a:avLst/>
          </a:prstGeom>
          <a:noFill/>
          <a:ln w="5715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1572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ogo&#10;&#10;Description automatically generated">
            <a:extLst>
              <a:ext uri="{FF2B5EF4-FFF2-40B4-BE49-F238E27FC236}">
                <a16:creationId xmlns:a16="http://schemas.microsoft.com/office/drawing/2014/main" id="{6190EC8D-8641-4FA8-B0DF-1C2BBA96F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641600"/>
            <a:ext cx="1612900" cy="1612900"/>
          </a:xfrm>
        </p:spPr>
      </p:pic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EFF578C9-D85A-4864-B37B-256CCDA050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2641600"/>
            <a:ext cx="3124200" cy="1612900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AFD5858-A7DE-4737-AD38-96EEEA78CD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4343400"/>
            <a:ext cx="4826000" cy="17399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0D52D64-391E-4A8D-981B-F22FDCEFAA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0112" y="2747330"/>
            <a:ext cx="3125570" cy="301434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Integrated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54DDA-5AD2-4E97-9689-05631771DE5E}"/>
              </a:ext>
            </a:extLst>
          </p:cNvPr>
          <p:cNvSpPr/>
          <p:nvPr/>
        </p:nvSpPr>
        <p:spPr>
          <a:xfrm>
            <a:off x="251520" y="2564904"/>
            <a:ext cx="4980880" cy="33123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48B975-904A-48FD-B89F-90308B781E44}"/>
              </a:ext>
            </a:extLst>
          </p:cNvPr>
          <p:cNvCxnSpPr>
            <a:cxnSpLocks/>
          </p:cNvCxnSpPr>
          <p:nvPr/>
        </p:nvCxnSpPr>
        <p:spPr>
          <a:xfrm flipV="1">
            <a:off x="5232400" y="4941168"/>
            <a:ext cx="2075904" cy="9361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20C153-34A2-4FEE-A966-627B375F1A6A}"/>
              </a:ext>
            </a:extLst>
          </p:cNvPr>
          <p:cNvCxnSpPr>
            <a:cxnSpLocks/>
          </p:cNvCxnSpPr>
          <p:nvPr/>
        </p:nvCxnSpPr>
        <p:spPr>
          <a:xfrm>
            <a:off x="5232400" y="2564904"/>
            <a:ext cx="2075904" cy="8640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6078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A53AE-C278-4597-AB30-684D2B8E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Tiered Architecture</a:t>
            </a:r>
          </a:p>
        </p:txBody>
      </p:sp>
      <p:pic>
        <p:nvPicPr>
          <p:cNvPr id="10" name="Picture 9" descr="Diagram, timeline&#10;&#10;Description automatically generated">
            <a:extLst>
              <a:ext uri="{FF2B5EF4-FFF2-40B4-BE49-F238E27FC236}">
                <a16:creationId xmlns:a16="http://schemas.microsoft.com/office/drawing/2014/main" id="{FAA445C8-6B87-41E9-A79C-D937E83F8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58" y="2348880"/>
            <a:ext cx="7344083" cy="41544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965535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TOMP">
            <a:extLst>
              <a:ext uri="{FF2B5EF4-FFF2-40B4-BE49-F238E27FC236}">
                <a16:creationId xmlns:a16="http://schemas.microsoft.com/office/drawing/2014/main" id="{C66CF4E0-621E-4219-B1E2-B8CEA2DC8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2616200"/>
            <a:ext cx="3175000" cy="812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ctiveMQ Artemis">
            <a:extLst>
              <a:ext uri="{FF2B5EF4-FFF2-40B4-BE49-F238E27FC236}">
                <a16:creationId xmlns:a16="http://schemas.microsoft.com/office/drawing/2014/main" id="{4BA75343-4893-4938-8F54-4B7CFEFD5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3517900"/>
            <a:ext cx="3175000" cy="2578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pring Boot Knowledgebase (Part 1) | by Tariqul Islam | Medium">
            <a:extLst>
              <a:ext uri="{FF2B5EF4-FFF2-40B4-BE49-F238E27FC236}">
                <a16:creationId xmlns:a16="http://schemas.microsoft.com/office/drawing/2014/main" id="{D0DA585F-14EC-4459-A25F-06D30DEC3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2" t="34076" r="17286" b="34004"/>
          <a:stretch/>
        </p:blipFill>
        <p:spPr bwMode="auto">
          <a:xfrm>
            <a:off x="3568700" y="2616200"/>
            <a:ext cx="5232400" cy="1193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cker e Docker Compose — Com Node.js, MongoDB, PostgreSQL e nodemon  (bônus) | by Jonathan Barros Franco | Medium">
            <a:extLst>
              <a:ext uri="{FF2B5EF4-FFF2-40B4-BE49-F238E27FC236}">
                <a16:creationId xmlns:a16="http://schemas.microsoft.com/office/drawing/2014/main" id="{262A9BD7-3D48-4880-A2B9-591FAA7D9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3898900"/>
            <a:ext cx="2590800" cy="2197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act – A JavaScript library for building user interfaces">
            <a:extLst>
              <a:ext uri="{FF2B5EF4-FFF2-40B4-BE49-F238E27FC236}">
                <a16:creationId xmlns:a16="http://schemas.microsoft.com/office/drawing/2014/main" id="{1188406F-DFAA-40F4-BED8-17034977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898900"/>
            <a:ext cx="2552700" cy="2197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1284288"/>
            <a:ext cx="9140825" cy="792162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Technologies</a:t>
            </a:r>
          </a:p>
        </p:txBody>
      </p:sp>
    </p:spTree>
    <p:extLst>
      <p:ext uri="{BB962C8B-B14F-4D97-AF65-F5344CB8AC3E}">
        <p14:creationId xmlns:p14="http://schemas.microsoft.com/office/powerpoint/2010/main" val="51901877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#1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/>
          <a:lstStyle/>
          <a:p>
            <a:pPr marL="0" indent="0" algn="ctr">
              <a:buNone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get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nl-NL" dirty="0"/>
              <a:t> -&gt; </a:t>
            </a:r>
            <a:r>
              <a:rPr lang="nl-NL" b="1" dirty="0">
                <a:solidFill>
                  <a:srgbClr val="C00000"/>
                </a:solidFill>
              </a:rPr>
              <a:t>Output</a:t>
            </a:r>
            <a:r>
              <a:rPr lang="nl-NL" dirty="0"/>
              <a:t> 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0" y="3501008"/>
            <a:ext cx="9140825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-1" y="3573016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077072"/>
            <a:ext cx="9140825" cy="2780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Multiple processing </a:t>
            </a:r>
            <a:r>
              <a:rPr lang="nl-NL" sz="1800" b="1" kern="0" dirty="0">
                <a:solidFill>
                  <a:srgbClr val="C00000"/>
                </a:solidFill>
              </a:rPr>
              <a:t>stages</a:t>
            </a:r>
            <a:r>
              <a:rPr lang="nl-NL" sz="1800" kern="0" dirty="0"/>
              <a:t> </a:t>
            </a:r>
            <a:r>
              <a:rPr lang="nl-NL" sz="1800" kern="0" dirty="0" err="1"/>
              <a:t>required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Transferred</a:t>
            </a:r>
            <a:r>
              <a:rPr lang="nl-NL" sz="1800" kern="0" dirty="0"/>
              <a:t> data (images) </a:t>
            </a:r>
            <a:r>
              <a:rPr lang="nl-NL" sz="1800" kern="0" dirty="0" err="1"/>
              <a:t>may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</a:t>
            </a:r>
            <a:r>
              <a:rPr lang="nl-NL" sz="1800" b="1" kern="0" dirty="0">
                <a:solidFill>
                  <a:srgbClr val="C00000"/>
                </a:solidFill>
              </a:rPr>
              <a:t>large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Analysis </a:t>
            </a:r>
            <a:r>
              <a:rPr lang="nl-NL" sz="1800" kern="0" dirty="0" err="1"/>
              <a:t>may</a:t>
            </a:r>
            <a:r>
              <a:rPr lang="nl-NL" sz="1800" kern="0" dirty="0"/>
              <a:t> take a </a:t>
            </a:r>
            <a:r>
              <a:rPr lang="nl-NL" sz="1800" b="1" kern="0" dirty="0">
                <a:solidFill>
                  <a:srgbClr val="C00000"/>
                </a:solidFill>
              </a:rPr>
              <a:t>long time</a:t>
            </a:r>
            <a:endParaRPr lang="en-US" sz="1800" b="1" kern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6049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Integration Style in-between processing pipeline components (Pipes and Filters)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54CD765-8B8F-4169-94D3-701752C8C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572" y="2636912"/>
            <a:ext cx="5641683" cy="1322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3833A3-DAF9-45BE-BF12-5267E856A64C}"/>
              </a:ext>
            </a:extLst>
          </p:cNvPr>
          <p:cNvCxnSpPr/>
          <p:nvPr/>
        </p:nvCxnSpPr>
        <p:spPr>
          <a:xfrm>
            <a:off x="0" y="4077072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F6E6AB2-44DF-436F-B9CE-2423664BE03E}"/>
              </a:ext>
            </a:extLst>
          </p:cNvPr>
          <p:cNvSpPr txBox="1">
            <a:spLocks/>
          </p:cNvSpPr>
          <p:nvPr/>
        </p:nvSpPr>
        <p:spPr bwMode="auto">
          <a:xfrm>
            <a:off x="1" y="4038193"/>
            <a:ext cx="9158608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CD47435-4242-4F22-8433-EA3EBF4B0D93}"/>
              </a:ext>
            </a:extLst>
          </p:cNvPr>
          <p:cNvSpPr txBox="1">
            <a:spLocks/>
          </p:cNvSpPr>
          <p:nvPr/>
        </p:nvSpPr>
        <p:spPr bwMode="auto">
          <a:xfrm>
            <a:off x="0" y="4653138"/>
            <a:ext cx="8999981" cy="220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Pipes</a:t>
            </a:r>
            <a:r>
              <a:rPr lang="nl-NL" sz="1800" kern="0" dirty="0"/>
              <a:t> </a:t>
            </a:r>
            <a:r>
              <a:rPr lang="nl-NL" sz="1800" kern="0" dirty="0" err="1"/>
              <a:t>and</a:t>
            </a:r>
            <a:r>
              <a:rPr lang="nl-NL" sz="1800" kern="0" dirty="0"/>
              <a:t> Filters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Messaging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Point-to-Point Channel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Document </a:t>
            </a:r>
            <a:r>
              <a:rPr lang="nl-NL" sz="1800" kern="0" dirty="0" err="1"/>
              <a:t>Messages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31305808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#2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>
                <a:solidFill>
                  <a:srgbClr val="00B050"/>
                </a:solidFill>
              </a:rPr>
              <a:t>start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stop</a:t>
            </a:r>
            <a:r>
              <a:rPr lang="nl-NL" dirty="0"/>
              <a:t> data </a:t>
            </a:r>
            <a:r>
              <a:rPr lang="nl-NL" dirty="0" err="1"/>
              <a:t>ingestion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nl-NL" dirty="0"/>
              <a:t>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36512" y="2989651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-1" y="2996952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3436302"/>
            <a:ext cx="9140825" cy="342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N users </a:t>
            </a:r>
            <a:r>
              <a:rPr lang="nl-NL" sz="1800" kern="0" dirty="0" err="1"/>
              <a:t>watch</a:t>
            </a:r>
            <a:r>
              <a:rPr lang="nl-NL" sz="1800" kern="0" dirty="0"/>
              <a:t> #hashtag -&gt; </a:t>
            </a:r>
            <a:r>
              <a:rPr lang="nl-NL" sz="1800" b="1" kern="0" dirty="0">
                <a:solidFill>
                  <a:srgbClr val="C00000"/>
                </a:solidFill>
              </a:rPr>
              <a:t>1 data </a:t>
            </a:r>
            <a:r>
              <a:rPr lang="nl-NL" sz="1800" b="1" kern="0" dirty="0" err="1">
                <a:solidFill>
                  <a:srgbClr val="C00000"/>
                </a:solidFill>
              </a:rPr>
              <a:t>ingestion</a:t>
            </a:r>
            <a:r>
              <a:rPr lang="nl-NL" sz="1800" b="1" kern="0" dirty="0">
                <a:solidFill>
                  <a:srgbClr val="C00000"/>
                </a:solidFill>
              </a:rPr>
              <a:t> </a:t>
            </a:r>
            <a:r>
              <a:rPr lang="nl-NL" sz="1800" kern="0" dirty="0"/>
              <a:t>on #hashtag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0 users </a:t>
            </a:r>
            <a:r>
              <a:rPr lang="nl-NL" sz="1800" kern="0" dirty="0" err="1"/>
              <a:t>watch</a:t>
            </a:r>
            <a:r>
              <a:rPr lang="nl-NL" sz="1800" kern="0" dirty="0"/>
              <a:t> #hashtag -&gt; </a:t>
            </a:r>
            <a:r>
              <a:rPr lang="nl-NL" sz="1800" b="1" kern="0" dirty="0">
                <a:solidFill>
                  <a:srgbClr val="C00000"/>
                </a:solidFill>
              </a:rPr>
              <a:t>0 data </a:t>
            </a:r>
            <a:r>
              <a:rPr lang="nl-NL" sz="1800" b="1" kern="0" dirty="0" err="1">
                <a:solidFill>
                  <a:srgbClr val="C00000"/>
                </a:solidFill>
              </a:rPr>
              <a:t>ingestion</a:t>
            </a:r>
            <a:r>
              <a:rPr lang="nl-NL" sz="1800" b="1" kern="0" dirty="0">
                <a:solidFill>
                  <a:srgbClr val="C00000"/>
                </a:solidFill>
              </a:rPr>
              <a:t> </a:t>
            </a:r>
            <a:r>
              <a:rPr lang="nl-NL" sz="1800" kern="0" dirty="0"/>
              <a:t>on #hashtag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Users are </a:t>
            </a:r>
            <a:r>
              <a:rPr lang="nl-NL" sz="1800" b="1" kern="0" dirty="0" err="1">
                <a:solidFill>
                  <a:srgbClr val="C00000"/>
                </a:solidFill>
              </a:rPr>
              <a:t>unreliable</a:t>
            </a:r>
            <a:r>
              <a:rPr lang="nl-NL" sz="1800" kern="0" dirty="0"/>
              <a:t>. Will </a:t>
            </a:r>
            <a:r>
              <a:rPr lang="nl-NL" sz="1800" kern="0" dirty="0" err="1"/>
              <a:t>not</a:t>
            </a:r>
            <a:r>
              <a:rPr lang="nl-NL" sz="1800" kern="0" dirty="0"/>
              <a:t> </a:t>
            </a:r>
            <a:r>
              <a:rPr lang="nl-NL" sz="1800" kern="0" dirty="0" err="1"/>
              <a:t>always</a:t>
            </a:r>
            <a:r>
              <a:rPr lang="nl-NL" sz="1800" kern="0" dirty="0"/>
              <a:t> click “</a:t>
            </a:r>
            <a:r>
              <a:rPr lang="nl-NL" sz="1800" b="1" kern="0" dirty="0">
                <a:solidFill>
                  <a:srgbClr val="C00000"/>
                </a:solidFill>
              </a:rPr>
              <a:t>stop</a:t>
            </a:r>
            <a:r>
              <a:rPr lang="nl-NL" sz="1800" kern="0" dirty="0"/>
              <a:t>”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What if… </a:t>
            </a:r>
            <a:r>
              <a:rPr lang="en-US" sz="1800" b="1" kern="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Twitter</a:t>
            </a:r>
            <a:r>
              <a:rPr lang="en-US" sz="1800" kern="0" dirty="0"/>
              <a:t> ingestion app crashes?</a:t>
            </a:r>
          </a:p>
        </p:txBody>
      </p:sp>
    </p:spTree>
    <p:extLst>
      <p:ext uri="{BB962C8B-B14F-4D97-AF65-F5344CB8AC3E}">
        <p14:creationId xmlns:p14="http://schemas.microsoft.com/office/powerpoint/2010/main" val="160740108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Pipeline Lifecycle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1A14A56-AC5B-444C-B9B3-4ECEC678E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75757"/>
            <a:ext cx="4283080" cy="480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1E3FA1B-1B39-4D18-A3E5-A2B3D7B52D1D}"/>
              </a:ext>
            </a:extLst>
          </p:cNvPr>
          <p:cNvSpPr txBox="1">
            <a:spLocks/>
          </p:cNvSpPr>
          <p:nvPr/>
        </p:nvSpPr>
        <p:spPr bwMode="auto">
          <a:xfrm>
            <a:off x="6012160" y="1860422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6499AD-0B5A-430C-A7CF-A11977B9FC3E}"/>
              </a:ext>
            </a:extLst>
          </p:cNvPr>
          <p:cNvSpPr txBox="1">
            <a:spLocks/>
          </p:cNvSpPr>
          <p:nvPr/>
        </p:nvSpPr>
        <p:spPr bwMode="auto">
          <a:xfrm>
            <a:off x="5508104" y="2354988"/>
            <a:ext cx="3491880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Observer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Event </a:t>
            </a:r>
            <a:r>
              <a:rPr lang="nl-NL" sz="1800" kern="0" dirty="0" err="1"/>
              <a:t>Messages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Splitter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Command</a:t>
            </a:r>
            <a:r>
              <a:rPr lang="nl-NL" sz="1800" kern="0" dirty="0"/>
              <a:t> Message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Correlation</a:t>
            </a:r>
            <a:r>
              <a:rPr lang="nl-NL" sz="1800" kern="0" dirty="0"/>
              <a:t> </a:t>
            </a:r>
            <a:r>
              <a:rPr lang="nl-NL" sz="1800" kern="0" dirty="0" err="1"/>
              <a:t>Identifier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Idempotent Receiver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Content-based Router</a:t>
            </a:r>
          </a:p>
        </p:txBody>
      </p:sp>
    </p:spTree>
    <p:extLst>
      <p:ext uri="{BB962C8B-B14F-4D97-AF65-F5344CB8AC3E}">
        <p14:creationId xmlns:p14="http://schemas.microsoft.com/office/powerpoint/2010/main" val="177954838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#3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nl-NL" dirty="0" err="1"/>
              <a:t>Decoupling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Messaging</a:t>
            </a:r>
            <a:r>
              <a:rPr lang="nl-NL" dirty="0"/>
              <a:t> &lt;-&gt; </a:t>
            </a:r>
            <a:r>
              <a:rPr lang="nl-NL" b="1" dirty="0">
                <a:solidFill>
                  <a:srgbClr val="C00000"/>
                </a:solidFill>
              </a:rPr>
              <a:t>Business Logic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108520" y="3997762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3175" y="3645024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437112"/>
            <a:ext cx="9140825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Business logic </a:t>
            </a:r>
            <a:r>
              <a:rPr lang="nl-NL" sz="1800" kern="0" dirty="0" err="1"/>
              <a:t>should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100% </a:t>
            </a:r>
            <a:r>
              <a:rPr lang="nl-NL" sz="1800" kern="0" dirty="0" err="1"/>
              <a:t>agnostic</a:t>
            </a:r>
            <a:r>
              <a:rPr lang="nl-NL" sz="1800" kern="0" dirty="0"/>
              <a:t> </a:t>
            </a:r>
            <a:r>
              <a:rPr lang="nl-NL" sz="1800" kern="0" dirty="0" err="1"/>
              <a:t>to</a:t>
            </a:r>
            <a:r>
              <a:rPr lang="nl-NL" sz="1800" kern="0" dirty="0"/>
              <a:t> </a:t>
            </a:r>
            <a:r>
              <a:rPr lang="nl-NL" sz="1800" kern="0" dirty="0" err="1"/>
              <a:t>communication</a:t>
            </a:r>
            <a:endParaRPr lang="nl-NL" sz="1800" kern="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Messaging System </a:t>
            </a:r>
            <a:r>
              <a:rPr lang="nl-NL" sz="1800" kern="0" dirty="0" err="1"/>
              <a:t>may</a:t>
            </a:r>
            <a:r>
              <a:rPr lang="nl-NL" sz="1800" kern="0" dirty="0"/>
              <a:t> </a:t>
            </a:r>
            <a:r>
              <a:rPr lang="nl-NL" sz="1800" kern="0" dirty="0" err="1"/>
              <a:t>be</a:t>
            </a:r>
            <a:r>
              <a:rPr lang="nl-NL" sz="1800" kern="0" dirty="0"/>
              <a:t> </a:t>
            </a:r>
            <a:r>
              <a:rPr lang="nl-NL" sz="1800" kern="0" dirty="0" err="1"/>
              <a:t>replaced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975549740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Coupling between code and messaging system (Gateway)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2631CEDC-049A-4A0C-97AA-0360806B0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589" y="2350511"/>
            <a:ext cx="4819650" cy="4238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8C2AF0E-AD32-47D1-B446-EA70233B4C8D}"/>
              </a:ext>
            </a:extLst>
          </p:cNvPr>
          <p:cNvSpPr txBox="1">
            <a:spLocks/>
          </p:cNvSpPr>
          <p:nvPr/>
        </p:nvSpPr>
        <p:spPr bwMode="auto">
          <a:xfrm>
            <a:off x="7261653" y="1932124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E6939C-FDE4-42A5-9F98-65688399C064}"/>
              </a:ext>
            </a:extLst>
          </p:cNvPr>
          <p:cNvSpPr txBox="1">
            <a:spLocks/>
          </p:cNvSpPr>
          <p:nvPr/>
        </p:nvSpPr>
        <p:spPr bwMode="auto">
          <a:xfrm>
            <a:off x="7250228" y="2420888"/>
            <a:ext cx="1872208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/>
              <a:t>Gateway</a:t>
            </a:r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39966177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62B-B030-4297-A086-1B4F5E40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b="1" dirty="0">
                <a:solidFill>
                  <a:srgbClr val="C00000"/>
                </a:solidFill>
              </a:rPr>
              <a:t>#4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CBA4-7115-49DC-8DC2-A4373FFE0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" y="2348880"/>
            <a:ext cx="9140825" cy="5760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nl-NL" dirty="0"/>
              <a:t>Agreement on </a:t>
            </a:r>
            <a:r>
              <a:rPr lang="nl-NL" b="1" dirty="0">
                <a:solidFill>
                  <a:srgbClr val="C00000"/>
                </a:solidFill>
              </a:rPr>
              <a:t>Data Format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166608-1596-4969-8A76-F92A95C4D89D}"/>
              </a:ext>
            </a:extLst>
          </p:cNvPr>
          <p:cNvSpPr txBox="1">
            <a:spLocks/>
          </p:cNvSpPr>
          <p:nvPr/>
        </p:nvSpPr>
        <p:spPr bwMode="auto">
          <a:xfrm>
            <a:off x="-108520" y="3997762"/>
            <a:ext cx="9140825" cy="43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 lnSpcReduction="100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/>
              <a:t>Assumptions</a:t>
            </a:r>
            <a:r>
              <a:rPr lang="nl-NL" sz="2400" b="1" kern="0" dirty="0"/>
              <a:t>/</a:t>
            </a:r>
            <a:r>
              <a:rPr lang="nl-NL" sz="2400" b="1" kern="0" dirty="0" err="1"/>
              <a:t>Constraints</a:t>
            </a:r>
            <a:endParaRPr lang="en-US" sz="2400" b="1" kern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B8F8B-41FA-4457-92AE-CFC72E03FCB7}"/>
              </a:ext>
            </a:extLst>
          </p:cNvPr>
          <p:cNvCxnSpPr/>
          <p:nvPr/>
        </p:nvCxnSpPr>
        <p:spPr>
          <a:xfrm>
            <a:off x="3175" y="3645024"/>
            <a:ext cx="91408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275D79-1E6B-4751-822C-6FFF56D004E4}"/>
              </a:ext>
            </a:extLst>
          </p:cNvPr>
          <p:cNvSpPr txBox="1">
            <a:spLocks/>
          </p:cNvSpPr>
          <p:nvPr/>
        </p:nvSpPr>
        <p:spPr bwMode="auto">
          <a:xfrm>
            <a:off x="2" y="4437112"/>
            <a:ext cx="9140825" cy="242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Components</a:t>
            </a:r>
            <a:r>
              <a:rPr lang="nl-NL" sz="1800" kern="0" dirty="0"/>
              <a:t> </a:t>
            </a:r>
            <a:r>
              <a:rPr lang="nl-NL" sz="1800" kern="0" dirty="0" err="1"/>
              <a:t>communicate</a:t>
            </a:r>
            <a:r>
              <a:rPr lang="nl-NL" sz="1800" kern="0" dirty="0"/>
              <a:t>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Different data formats used throughout application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Applications may need to modify data formats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0" dirty="0"/>
              <a:t>Applications should allow independent compilation</a:t>
            </a:r>
          </a:p>
        </p:txBody>
      </p:sp>
    </p:spTree>
    <p:extLst>
      <p:ext uri="{BB962C8B-B14F-4D97-AF65-F5344CB8AC3E}">
        <p14:creationId xmlns:p14="http://schemas.microsoft.com/office/powerpoint/2010/main" val="4229615674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Cross-application data model sharing (Canonical Data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4564B-D782-4515-9280-4CDA1E7BFCDB}"/>
              </a:ext>
            </a:extLst>
          </p:cNvPr>
          <p:cNvSpPr txBox="1">
            <a:spLocks/>
          </p:cNvSpPr>
          <p:nvPr/>
        </p:nvSpPr>
        <p:spPr bwMode="auto">
          <a:xfrm>
            <a:off x="6829470" y="1974822"/>
            <a:ext cx="1907703" cy="720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6990" rIns="270000" bIns="4699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457189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914377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1371566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1828754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nl-NL" sz="2400" b="1" kern="0" dirty="0" err="1">
                <a:solidFill>
                  <a:srgbClr val="C00000"/>
                </a:solidFill>
              </a:rPr>
              <a:t>Chosen</a:t>
            </a:r>
            <a:endParaRPr lang="en-US" sz="2400" b="1" kern="0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F763C0-72F7-46C0-9019-9CEF4FF00290}"/>
              </a:ext>
            </a:extLst>
          </p:cNvPr>
          <p:cNvSpPr txBox="1">
            <a:spLocks/>
          </p:cNvSpPr>
          <p:nvPr/>
        </p:nvSpPr>
        <p:spPr bwMode="auto">
          <a:xfrm>
            <a:off x="6444208" y="2420888"/>
            <a:ext cx="2678228" cy="366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70000" tIns="45720" rIns="270000" bIns="45720" numCol="1" anchor="t" anchorCtr="0" compatLnSpc="1">
            <a:prstTxWarp prst="textNoShape">
              <a:avLst/>
            </a:prstTxWarp>
            <a:normAutofit/>
          </a:bodyPr>
          <a:lstStyle>
            <a:lvl1pPr marL="249232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Verdana" pitchFamily="34" charset="0"/>
              <a:buChar char="›"/>
              <a:defRPr sz="2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1638" indent="-250819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Wingdings" pitchFamily="2" charset="2"/>
              <a:buChar char="§"/>
              <a:defRPr sz="2500">
                <a:solidFill>
                  <a:schemeClr val="tx1"/>
                </a:solidFill>
                <a:latin typeface="+mn-lt"/>
                <a:cs typeface="+mn-cs"/>
              </a:defRPr>
            </a:lvl2pPr>
            <a:lvl3pPr marL="744520" indent="-242882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3pPr>
            <a:lvl4pPr marL="1009625" indent="-263519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4pPr>
            <a:lvl5pPr marL="1260443" indent="-249232" algn="l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5pPr>
            <a:lvl6pPr marL="1717632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6pPr>
            <a:lvl7pPr marL="2174820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7pPr>
            <a:lvl8pPr marL="2632009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8pPr>
            <a:lvl9pPr marL="3089197" indent="-249232" algn="l" rtl="0" fontAlgn="base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-"/>
              <a:defRPr sz="25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nl-NL" sz="1800" kern="0" dirty="0" err="1"/>
              <a:t>Canonical</a:t>
            </a:r>
            <a:r>
              <a:rPr lang="nl-NL" sz="1800" kern="0" dirty="0"/>
              <a:t> Data Format</a:t>
            </a:r>
            <a:endParaRPr lang="en-US" sz="1800" kern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201CD-CBEB-4DB5-93BF-B07CEA653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1" y="2231945"/>
            <a:ext cx="40100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47156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F0A4-8F0B-4D76-B5EE-02F794A5A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9833-94A6-4F55-8C9E-A5542B78C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1800" b="1" dirty="0">
                <a:solidFill>
                  <a:srgbClr val="C00000"/>
                </a:solidFill>
              </a:rPr>
              <a:t>Integration</a:t>
            </a:r>
            <a:r>
              <a:rPr lang="en-US" sz="1800" b="1" dirty="0"/>
              <a:t> Style in-between processing pipeline components (Pipes and Filters)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Pipeline Lifecycle </a:t>
            </a:r>
            <a:r>
              <a:rPr lang="en-US" sz="1800" b="1" dirty="0">
                <a:solidFill>
                  <a:srgbClr val="C00000"/>
                </a:solidFill>
              </a:rPr>
              <a:t>Management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 </a:t>
            </a:r>
            <a:r>
              <a:rPr lang="en-US" sz="1800" b="1" dirty="0">
                <a:solidFill>
                  <a:srgbClr val="C00000"/>
                </a:solidFill>
              </a:rPr>
              <a:t>Coupling</a:t>
            </a:r>
            <a:r>
              <a:rPr lang="en-US" sz="1800" b="1" dirty="0"/>
              <a:t> between code and messaging system (Gateway)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b="1" dirty="0"/>
              <a:t>Cross-application </a:t>
            </a:r>
            <a:r>
              <a:rPr lang="en-US" sz="1800" b="1" dirty="0">
                <a:solidFill>
                  <a:srgbClr val="C00000"/>
                </a:solidFill>
              </a:rPr>
              <a:t>data model </a:t>
            </a:r>
            <a:r>
              <a:rPr lang="en-US" sz="1800" b="1" dirty="0"/>
              <a:t>sharing (Canonical Data Model)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Delivering Analysis </a:t>
            </a:r>
            <a:r>
              <a:rPr lang="en-US" sz="1800" dirty="0">
                <a:solidFill>
                  <a:schemeClr val="bg2"/>
                </a:solidFill>
              </a:rPr>
              <a:t>Results to the Frontend (Publish-Subscribe)</a:t>
            </a:r>
            <a:endParaRPr lang="en-US" sz="1800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</a:t>
            </a:r>
            <a:r>
              <a:rPr lang="en-US" sz="1800" dirty="0">
                <a:solidFill>
                  <a:srgbClr val="C00000"/>
                </a:solidFill>
              </a:rPr>
              <a:t>Filtering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bg2"/>
                </a:solidFill>
              </a:rPr>
              <a:t>results and removing noise (Content Filter)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 Object </a:t>
            </a:r>
            <a:r>
              <a:rPr lang="en-US" sz="1800" dirty="0">
                <a:solidFill>
                  <a:schemeClr val="accent1"/>
                </a:solidFill>
              </a:rPr>
              <a:t>Detection</a:t>
            </a:r>
            <a:r>
              <a:rPr lang="en-US" sz="1800" dirty="0">
                <a:solidFill>
                  <a:schemeClr val="bg2"/>
                </a:solidFill>
              </a:rPr>
              <a:t> in images (Content Enricher)</a:t>
            </a:r>
          </a:p>
        </p:txBody>
      </p:sp>
    </p:spTree>
    <p:extLst>
      <p:ext uri="{BB962C8B-B14F-4D97-AF65-F5344CB8AC3E}">
        <p14:creationId xmlns:p14="http://schemas.microsoft.com/office/powerpoint/2010/main" val="279044467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(Web Interface)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4C5A005D-2580-43D9-8592-20FB09DC0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20888"/>
            <a:ext cx="6264696" cy="4073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291295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(Stream Management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1B2B487-2592-4CA2-9431-4859278E5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420888"/>
            <a:ext cx="7297759" cy="43801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56579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(Twitter Streaming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Google Shape;225;p17">
            <a:extLst>
              <a:ext uri="{FF2B5EF4-FFF2-40B4-BE49-F238E27FC236}">
                <a16:creationId xmlns:a16="http://schemas.microsoft.com/office/drawing/2014/main" id="{ADA91903-B38C-4E8B-8268-E6BB8894028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9975" y="2347925"/>
            <a:ext cx="8224049" cy="42169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9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239704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(Image Preprocessing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0C880F1B-44D9-4F3B-8049-A0CBA569B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58" y="2348880"/>
            <a:ext cx="3800483" cy="4437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646056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(Image Analyzer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8056C-7A8C-44C8-BEBA-AE1922B0E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846" y="2348880"/>
            <a:ext cx="6188308" cy="4352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189438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2776"/>
            <a:ext cx="9140825" cy="792162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Diagram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(Database Adapter Service)</a:t>
            </a:r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7D177-7A22-4ADF-8037-8839A3B99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762" y="2420888"/>
            <a:ext cx="5067300" cy="4152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418931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8E57A-FA86-4B2D-8832-C40C1FB3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123749"/>
            <a:ext cx="9140825" cy="7921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Architectural 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Diagram</a:t>
            </a:r>
          </a:p>
        </p:txBody>
      </p:sp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5504B20D-41CF-46FB-82F1-4C5F67F40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8" y="1300851"/>
            <a:ext cx="7416824" cy="55226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577849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Presentation with media outline">
            <a:extLst>
              <a:ext uri="{FF2B5EF4-FFF2-40B4-BE49-F238E27FC236}">
                <a16:creationId xmlns:a16="http://schemas.microsoft.com/office/drawing/2014/main" id="{0B2B0DC6-A782-4C1D-8644-3C992CC66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9469" y="836712"/>
            <a:ext cx="4248472" cy="4248472"/>
          </a:xfrm>
        </p:spPr>
      </p:pic>
      <p:pic>
        <p:nvPicPr>
          <p:cNvPr id="7" name="Graphic 6" descr="Lecturer with solid fill">
            <a:extLst>
              <a:ext uri="{FF2B5EF4-FFF2-40B4-BE49-F238E27FC236}">
                <a16:creationId xmlns:a16="http://schemas.microsoft.com/office/drawing/2014/main" id="{26EB4EEB-BA4D-4876-A789-A0599803C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4028" y="3075887"/>
            <a:ext cx="2376264" cy="2376264"/>
          </a:xfrm>
          <a:prstGeom prst="rect">
            <a:avLst/>
          </a:prstGeom>
        </p:spPr>
      </p:pic>
      <p:pic>
        <p:nvPicPr>
          <p:cNvPr id="10" name="Graphic 9" descr="Social distancing with solid fill">
            <a:extLst>
              <a:ext uri="{FF2B5EF4-FFF2-40B4-BE49-F238E27FC236}">
                <a16:creationId xmlns:a16="http://schemas.microsoft.com/office/drawing/2014/main" id="{DF38E8F8-F792-48B8-A36E-8D18AD8AC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5566" y="5452151"/>
            <a:ext cx="1282290" cy="1282290"/>
          </a:xfrm>
          <a:prstGeom prst="rect">
            <a:avLst/>
          </a:prstGeom>
        </p:spPr>
      </p:pic>
      <p:pic>
        <p:nvPicPr>
          <p:cNvPr id="12" name="Graphic 11" descr="Social distancing with solid fill">
            <a:extLst>
              <a:ext uri="{FF2B5EF4-FFF2-40B4-BE49-F238E27FC236}">
                <a16:creationId xmlns:a16="http://schemas.microsoft.com/office/drawing/2014/main" id="{F2E08A7B-6AA6-433B-92FB-D0BC69334F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1415" y="5452151"/>
            <a:ext cx="1282290" cy="1282290"/>
          </a:xfrm>
          <a:prstGeom prst="rect">
            <a:avLst/>
          </a:prstGeom>
        </p:spPr>
      </p:pic>
      <p:pic>
        <p:nvPicPr>
          <p:cNvPr id="14" name="Graphic 13" descr="Social distancing with solid fill">
            <a:extLst>
              <a:ext uri="{FF2B5EF4-FFF2-40B4-BE49-F238E27FC236}">
                <a16:creationId xmlns:a16="http://schemas.microsoft.com/office/drawing/2014/main" id="{CD8E2281-2B66-4865-BCD5-AFD5540DC7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7264" y="5452151"/>
            <a:ext cx="1282290" cy="1282290"/>
          </a:xfrm>
          <a:prstGeom prst="rect">
            <a:avLst/>
          </a:prstGeom>
        </p:spPr>
      </p:pic>
      <p:pic>
        <p:nvPicPr>
          <p:cNvPr id="16" name="Graphic 15" descr="Social distancing with solid fill">
            <a:extLst>
              <a:ext uri="{FF2B5EF4-FFF2-40B4-BE49-F238E27FC236}">
                <a16:creationId xmlns:a16="http://schemas.microsoft.com/office/drawing/2014/main" id="{2ABBBFF3-E23C-407F-B679-BAEBA7699F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8778" y="5452151"/>
            <a:ext cx="1282290" cy="12822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5D875F2-E6C2-4179-A374-C01924636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784" y="123749"/>
            <a:ext cx="9140825" cy="792162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4741178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itle Page">
  <a:themeElements>
    <a:clrScheme name="RUG-Palette 2020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CC0000"/>
      </a:accent1>
      <a:accent2>
        <a:srgbClr val="009CEF"/>
      </a:accent2>
      <a:accent3>
        <a:srgbClr val="772D6B"/>
      </a:accent3>
      <a:accent4>
        <a:srgbClr val="60B669"/>
      </a:accent4>
      <a:accent5>
        <a:srgbClr val="EC6581"/>
      </a:accent5>
      <a:accent6>
        <a:srgbClr val="35B6B4"/>
      </a:accent6>
      <a:hlink>
        <a:srgbClr val="CC0000"/>
      </a:hlink>
      <a:folHlink>
        <a:srgbClr val="CC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G-Powerpoint-template.potx" id="{0A9710D2-BF62-48F4-B8F7-9CB6426FA17F}" vid="{E1484556-97F6-406C-A81E-BF6B7B6968C8}"/>
    </a:ext>
  </a:extLst>
</a:theme>
</file>

<file path=ppt/theme/theme2.xml><?xml version="1.0" encoding="utf-8"?>
<a:theme xmlns:a="http://schemas.openxmlformats.org/drawingml/2006/main" name="Main Layout">
  <a:themeElements>
    <a:clrScheme name="RUG-Palette 2020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CC0000"/>
      </a:accent1>
      <a:accent2>
        <a:srgbClr val="009CEF"/>
      </a:accent2>
      <a:accent3>
        <a:srgbClr val="772D6B"/>
      </a:accent3>
      <a:accent4>
        <a:srgbClr val="60B669"/>
      </a:accent4>
      <a:accent5>
        <a:srgbClr val="EC6581"/>
      </a:accent5>
      <a:accent6>
        <a:srgbClr val="35B6B4"/>
      </a:accent6>
      <a:hlink>
        <a:srgbClr val="CC0000"/>
      </a:hlink>
      <a:folHlink>
        <a:srgbClr val="CC0000"/>
      </a:folHlink>
    </a:clrScheme>
    <a:fontScheme name="Title Desig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itle Design 1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9CEF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AACBF6"/>
        </a:accent5>
        <a:accent6>
          <a:srgbClr val="B90000"/>
        </a:accent6>
        <a:hlink>
          <a:srgbClr val="000000"/>
        </a:hlink>
        <a:folHlink>
          <a:srgbClr val="772D6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UG-Powerpoint-template.potx" id="{0A9710D2-BF62-48F4-B8F7-9CB6426FA17F}" vid="{EA1F38EC-4221-4980-9C36-CAA604290858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ontrol xmlns="http://schemas.microsoft.com/VisualStudio/2011/storyboarding/control">
  <Id Name="System.Storyboarding.Backgrounds.DesktopTaskbar" Revision="1" Stencil="System.Storyboarding.Backgrounds" StencilVersion="0.1"/>
</Control>
</file>

<file path=customXml/item2.xml><?xml version="1.0" encoding="utf-8"?>
<Control xmlns="http://schemas.microsoft.com/VisualStudio/2011/storyboarding/control">
  <Id Name="f97fa488-6e82-4083-8282-b3a1ae8d5616" Revision="1" Stencil="System.MyShapes" StencilVersion="1.0"/>
</Control>
</file>

<file path=customXml/itemProps1.xml><?xml version="1.0" encoding="utf-8"?>
<ds:datastoreItem xmlns:ds="http://schemas.openxmlformats.org/officeDocument/2006/customXml" ds:itemID="{B57A2E56-9EAE-4F5F-90F3-06A05FCBDA4A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D83A0179-7A1E-4DAA-A2DA-E405A60D64B1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392</Words>
  <Application>Microsoft Office PowerPoint</Application>
  <PresentationFormat>Apresentação no Ecrã (4:3)</PresentationFormat>
  <Paragraphs>92</Paragraphs>
  <Slides>23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Courier New</vt:lpstr>
      <vt:lpstr>Egyptienne F LT Std</vt:lpstr>
      <vt:lpstr>Georgia</vt:lpstr>
      <vt:lpstr>Verdana</vt:lpstr>
      <vt:lpstr>Wingdings</vt:lpstr>
      <vt:lpstr>Title Page</vt:lpstr>
      <vt:lpstr>Main Layout</vt:lpstr>
      <vt:lpstr>Viral Images!</vt:lpstr>
      <vt:lpstr>Table of contents</vt:lpstr>
      <vt:lpstr>System Context</vt:lpstr>
      <vt:lpstr>Integrated Systems</vt:lpstr>
      <vt:lpstr>Tiered Architecture</vt:lpstr>
      <vt:lpstr>Technologies</vt:lpstr>
      <vt:lpstr>Problem #1</vt:lpstr>
      <vt:lpstr>Integration Style in-between processing pipeline components (Pipes and Filters)</vt:lpstr>
      <vt:lpstr>Problem #2</vt:lpstr>
      <vt:lpstr>Pipeline Lifecycle Management</vt:lpstr>
      <vt:lpstr>Problem #3</vt:lpstr>
      <vt:lpstr>Coupling between code and messaging system (Gateway)</vt:lpstr>
      <vt:lpstr>Problem #4</vt:lpstr>
      <vt:lpstr>Cross-application data model sharing (Canonical Data Model)</vt:lpstr>
      <vt:lpstr>Design Decisions</vt:lpstr>
      <vt:lpstr>Architectural Diagram (Web Interface)</vt:lpstr>
      <vt:lpstr>Architectural Diagram (Stream Management Service)</vt:lpstr>
      <vt:lpstr>Architectural Diagram (Twitter Streaming Service)</vt:lpstr>
      <vt:lpstr>Architectural Diagram (Image Preprocessing Service)</vt:lpstr>
      <vt:lpstr>Architectural Diagram (Image Analyzer Service)</vt:lpstr>
      <vt:lpstr>Architectural Diagram (Database Adapter Service)</vt:lpstr>
      <vt:lpstr>Architectural  Diagram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Viral Images!</dc:title>
  <dc:creator>Filipe Capela</dc:creator>
  <cp:lastModifiedBy>Filipe Capela</cp:lastModifiedBy>
  <cp:revision>30</cp:revision>
  <dcterms:created xsi:type="dcterms:W3CDTF">2021-01-06T17:35:37Z</dcterms:created>
  <dcterms:modified xsi:type="dcterms:W3CDTF">2021-01-11T08:41:54Z</dcterms:modified>
</cp:coreProperties>
</file>